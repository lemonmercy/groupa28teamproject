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handoutMasterIdLst>
    <p:handoutMasterId r:id="rId12"/>
  </p:handoutMasterIdLst>
  <p:sldIdLst>
    <p:sldId id="337" r:id="rId5"/>
    <p:sldId id="289" r:id="rId6"/>
    <p:sldId id="340" r:id="rId7"/>
    <p:sldId id="329" r:id="rId8"/>
    <p:sldId id="336" r:id="rId9"/>
    <p:sldId id="34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B1EB13-4B4A-3A65-7705-B39B10420BC6}" v="11" dt="2025-11-07T13:21:13.889"/>
    <p1510:client id="{94404E7A-4EB2-D0DE-A758-3B2FEF7E6025}" v="1178" dt="2025-11-07T14:31:40.7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 orient="horz" pos="3249"/>
        <p:guide pos="7068"/>
        <p:guide orient="horz" pos="138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07/11/2025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07/11/2025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6</a:t>
            </a:fld>
            <a:endParaRPr lang="en-GB"/>
          </a:p>
        </p:txBody>
      </p:sp>
    </p:spTree>
    <p:extLst>
      <p:ext uri="{BB962C8B-B14F-4D97-AF65-F5344CB8AC3E}">
        <p14:creationId xmlns:p14="http://schemas.microsoft.com/office/powerpoint/2010/main" val="39394292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A29D8FC-E32A-5566-0930-02B99F5763A6}"/>
              </a:ext>
            </a:extLst>
          </p:cNvPr>
          <p:cNvSpPr>
            <a:spLocks noGrp="1"/>
          </p:cNvSpPr>
          <p:nvPr>
            <p:ph type="subTitle" idx="1"/>
          </p:nvPr>
        </p:nvSpPr>
        <p:spPr>
          <a:xfrm>
            <a:off x="952800" y="699736"/>
            <a:ext cx="10273911" cy="533111"/>
          </a:xfrm>
        </p:spPr>
        <p:txBody>
          <a:bodyPr/>
          <a:lstStyle/>
          <a:p>
            <a:r>
              <a:rPr lang="en-GB"/>
              <a:t>Instructions for the Research Question Demos</a:t>
            </a:r>
          </a:p>
        </p:txBody>
      </p:sp>
      <p:sp>
        <p:nvSpPr>
          <p:cNvPr id="4" name="Slide Number Placeholder 3">
            <a:extLst>
              <a:ext uri="{FF2B5EF4-FFF2-40B4-BE49-F238E27FC236}">
                <a16:creationId xmlns:a16="http://schemas.microsoft.com/office/drawing/2014/main" id="{E143B824-C7FA-8427-0A8B-E8B5D7787B83}"/>
              </a:ext>
            </a:extLst>
          </p:cNvPr>
          <p:cNvSpPr>
            <a:spLocks noGrp="1"/>
          </p:cNvSpPr>
          <p:nvPr>
            <p:ph type="sldNum" sz="quarter" idx="12"/>
          </p:nvPr>
        </p:nvSpPr>
        <p:spPr/>
        <p:txBody>
          <a:bodyPr/>
          <a:lstStyle/>
          <a:p>
            <a:fld id="{E4D355CA-84B7-41B1-B164-8BB439CC7C6B}" type="slidenum">
              <a:rPr lang="en-GB" smtClean="0"/>
              <a:pPr/>
              <a:t>1</a:t>
            </a:fld>
            <a:endParaRPr lang="en-GB"/>
          </a:p>
        </p:txBody>
      </p:sp>
      <p:sp>
        <p:nvSpPr>
          <p:cNvPr id="6" name="TextBox 5">
            <a:extLst>
              <a:ext uri="{FF2B5EF4-FFF2-40B4-BE49-F238E27FC236}">
                <a16:creationId xmlns:a16="http://schemas.microsoft.com/office/drawing/2014/main" id="{6DD9461E-8553-F8C3-E23F-FB71330E931F}"/>
              </a:ext>
            </a:extLst>
          </p:cNvPr>
          <p:cNvSpPr txBox="1"/>
          <p:nvPr/>
        </p:nvSpPr>
        <p:spPr>
          <a:xfrm>
            <a:off x="388578" y="1310979"/>
            <a:ext cx="11486747" cy="5355312"/>
          </a:xfrm>
          <a:prstGeom prst="rect">
            <a:avLst/>
          </a:prstGeom>
          <a:solidFill>
            <a:schemeClr val="bg1"/>
          </a:solidFill>
        </p:spPr>
        <p:txBody>
          <a:bodyPr wrap="square" lIns="91440" tIns="45720" rIns="91440" bIns="45720" rtlCol="0" anchor="t">
            <a:spAutoFit/>
          </a:bodyPr>
          <a:lstStyle/>
          <a:p>
            <a:r>
              <a:rPr lang="en-GB" dirty="0"/>
              <a:t>You have 5 minutes to present – be ready to share your screen, present slides in "full screen / presentation mode". Practice first. We can only offer you one opportunity to present your Research Question, so please </a:t>
            </a:r>
            <a:r>
              <a:rPr lang="en-GB"/>
              <a:t>make the most of this opportunity to help you pass coursework 2. </a:t>
            </a:r>
            <a:endParaRPr lang="en-GB" dirty="0"/>
          </a:p>
          <a:p>
            <a:endParaRPr lang="en-GB"/>
          </a:p>
          <a:p>
            <a:r>
              <a:rPr lang="en-GB" dirty="0">
                <a:solidFill>
                  <a:srgbClr val="FF0000"/>
                </a:solidFill>
              </a:rPr>
              <a:t>Research Questions are dependent on the variables and datatypes you have in your assigned dataset. Before you define your Research Question, your dataset dsXXXX must match your assigned Dataset, I.e., did you </a:t>
            </a:r>
            <a:r>
              <a:rPr lang="en-GB">
                <a:solidFill>
                  <a:srgbClr val="FF0000"/>
                </a:solidFill>
              </a:rPr>
              <a:t>receive confirmation email about your allocation?</a:t>
            </a:r>
            <a:r>
              <a:rPr lang="en-GB" dirty="0">
                <a:solidFill>
                  <a:srgbClr val="FF0000"/>
                </a:solidFill>
              </a:rPr>
              <a:t> Your group number must be assigned to the dataset you are referencing here.</a:t>
            </a:r>
            <a:endParaRPr lang="en-GB" dirty="0">
              <a:solidFill>
                <a:srgbClr val="FF0000"/>
              </a:solidFill>
              <a:cs typeface="Arial"/>
            </a:endParaRPr>
          </a:p>
          <a:p>
            <a:endParaRPr lang="en-GB">
              <a:solidFill>
                <a:srgbClr val="203232"/>
              </a:solidFill>
              <a:cs typeface="Arial" panose="020B0604020202020204"/>
            </a:endParaRPr>
          </a:p>
          <a:p>
            <a:r>
              <a:rPr lang="en-GB"/>
              <a:t>The next slides give you three alternatives for defining your research question and hypotheses. Select </a:t>
            </a:r>
            <a:r>
              <a:rPr lang="en-GB" dirty="0"/>
              <a:t>only </a:t>
            </a:r>
            <a:r>
              <a:rPr lang="en-GB" b="1" dirty="0"/>
              <a:t>one type </a:t>
            </a:r>
            <a:r>
              <a:rPr lang="en-GB" dirty="0"/>
              <a:t>of research question. </a:t>
            </a:r>
          </a:p>
          <a:p>
            <a:r>
              <a:rPr lang="en-GB" dirty="0"/>
              <a:t>Before presenting DELETE all text that is either an instruction or an optionyou do not use (including this slide).   You can then enlarge your selection. Instructions for group sign up of presentation slots will be announced on Canvas and Slack. DO NOT SIGN UP unless you can attend. Ideally, all group members should attend; select one person to present, while others take notes. All group be ready to answer questions.  Any group not </a:t>
            </a:r>
            <a:r>
              <a:rPr lang="en-GB"/>
              <a:t>presenting will miss the opportunity to check a critical part of coursework 2.   Practice presenting on Teams </a:t>
            </a:r>
            <a:r>
              <a:rPr lang="en-GB" dirty="0"/>
              <a:t>first.</a:t>
            </a:r>
            <a:endParaRPr lang="en-GB">
              <a:cs typeface="Arial"/>
            </a:endParaRPr>
          </a:p>
          <a:p>
            <a:r>
              <a:rPr lang="en-GB" b="1" i="1"/>
              <a:t>We look forward to giving you feedback.  You will not be graded on this presentation but if you do not attend and you booked a space you are preventing someone else presenting and are going against our module values</a:t>
            </a:r>
            <a:r>
              <a:rPr lang="en-GB"/>
              <a:t>.  This will be reflected in your peer evaluation.</a:t>
            </a:r>
          </a:p>
        </p:txBody>
      </p:sp>
    </p:spTree>
    <p:extLst>
      <p:ext uri="{BB962C8B-B14F-4D97-AF65-F5344CB8AC3E}">
        <p14:creationId xmlns:p14="http://schemas.microsoft.com/office/powerpoint/2010/main" val="384748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a:t>Research Question – </a:t>
            </a:r>
            <a:br>
              <a:rPr lang="en-US"/>
            </a:br>
            <a:r>
              <a:rPr lang="en-US" sz="4000"/>
              <a:t>Tutorial Presentation for Feedback</a:t>
            </a:r>
            <a:br>
              <a:rPr lang="en-US" sz="4000"/>
            </a:br>
            <a:r>
              <a:rPr lang="en-US" sz="2200"/>
              <a:t>Date: </a:t>
            </a:r>
            <a:br>
              <a:rPr lang="en-US" sz="8000"/>
            </a:br>
            <a:endParaRPr lang="en-US"/>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a:lstStyle/>
          <a:p>
            <a:r>
              <a:rPr lang="en-US" sz="2000"/>
              <a:t>Group Name:                                                            Name of Student Presenting:</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a:t>7COM1079-2025  Student Group No:                    Names of Student Attendees  (all group should attend to get feedback): </a:t>
            </a:r>
          </a:p>
        </p:txBody>
      </p:sp>
    </p:spTree>
    <p:extLst>
      <p:ext uri="{BB962C8B-B14F-4D97-AF65-F5344CB8AC3E}">
        <p14:creationId xmlns:p14="http://schemas.microsoft.com/office/powerpoint/2010/main" val="4148532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vert="horz" lIns="0" tIns="0" rIns="0" bIns="0" rtlCol="0" anchor="t">
            <a:noAutofit/>
          </a:bodyPr>
          <a:lstStyle/>
          <a:p>
            <a:pPr>
              <a:spcAft>
                <a:spcPts val="0"/>
              </a:spcAft>
            </a:pPr>
            <a:r>
              <a:rPr lang="en-GB">
                <a:solidFill>
                  <a:srgbClr val="203232"/>
                </a:solidFill>
                <a:cs typeface="Arial"/>
              </a:rPr>
              <a:t>Here is a sample of our dataset: </a:t>
            </a:r>
            <a:endParaRPr lang="en-GB" sz="180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a:t>PRE 7COM1079-2025  Student Group No: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8" name="Title 7">
            <a:extLst>
              <a:ext uri="{FF2B5EF4-FFF2-40B4-BE49-F238E27FC236}">
                <a16:creationId xmlns:a16="http://schemas.microsoft.com/office/drawing/2014/main" id="{6E140EA5-BB03-811F-4631-603A97631914}"/>
              </a:ext>
            </a:extLst>
          </p:cNvPr>
          <p:cNvSpPr>
            <a:spLocks noGrp="1"/>
          </p:cNvSpPr>
          <p:nvPr>
            <p:ph type="ctrTitle"/>
          </p:nvPr>
        </p:nvSpPr>
        <p:spPr>
          <a:xfrm>
            <a:off x="964884" y="2089858"/>
            <a:ext cx="9965844" cy="2649857"/>
          </a:xfrm>
        </p:spPr>
        <p:txBody>
          <a:bodyPr>
            <a:normAutofit fontScale="90000"/>
          </a:bodyPr>
          <a:lstStyle/>
          <a:p>
            <a:pPr>
              <a:lnSpc>
                <a:spcPts val="2880"/>
              </a:lnSpc>
              <a:spcBef>
                <a:spcPts val="0"/>
              </a:spcBef>
              <a:spcAft>
                <a:spcPts val="992"/>
              </a:spcAft>
            </a:pPr>
            <a:r>
              <a:rPr lang="en-GB" sz="3600">
                <a:solidFill>
                  <a:srgbClr val="FF0000"/>
                </a:solidFill>
                <a:cs typeface="Arial"/>
              </a:rPr>
              <a:t>Include summary information of your dataset, to include </a:t>
            </a:r>
            <a:endParaRPr lang="en-US" sz="3600" b="0">
              <a:solidFill>
                <a:srgbClr val="FF0000"/>
              </a:solidFill>
              <a:cs typeface="Arial"/>
            </a:endParaRPr>
          </a:p>
          <a:p>
            <a:pPr marL="742950" indent="-742950">
              <a:lnSpc>
                <a:spcPts val="2880"/>
              </a:lnSpc>
              <a:spcBef>
                <a:spcPts val="0"/>
              </a:spcBef>
              <a:spcAft>
                <a:spcPts val="992"/>
              </a:spcAft>
              <a:buAutoNum type="arabicPeriod"/>
            </a:pPr>
            <a:r>
              <a:rPr lang="en-GB" sz="3600">
                <a:solidFill>
                  <a:srgbClr val="FF0000"/>
                </a:solidFill>
                <a:cs typeface="Arial"/>
              </a:rPr>
              <a:t>The columns/variable names you include in your research question  (two columns).</a:t>
            </a:r>
            <a:endParaRPr lang="en-US" sz="3600" b="0" dirty="0">
              <a:solidFill>
                <a:srgbClr val="FF0000"/>
              </a:solidFill>
              <a:cs typeface="Arial"/>
            </a:endParaRPr>
          </a:p>
          <a:p>
            <a:pPr marL="742950" indent="-742950">
              <a:lnSpc>
                <a:spcPts val="2880"/>
              </a:lnSpc>
              <a:spcBef>
                <a:spcPts val="0"/>
              </a:spcBef>
              <a:spcAft>
                <a:spcPts val="992"/>
              </a:spcAft>
              <a:buAutoNum type="arabicPeriod"/>
            </a:pPr>
            <a:r>
              <a:rPr lang="en-GB" sz="3600">
                <a:solidFill>
                  <a:srgbClr val="FF0000"/>
                </a:solidFill>
                <a:cs typeface="Arial"/>
              </a:rPr>
              <a:t>At least 5 rows of the data</a:t>
            </a:r>
            <a:endParaRPr lang="en-US" sz="3600" b="0">
              <a:solidFill>
                <a:srgbClr val="FF0000"/>
              </a:solidFill>
              <a:cs typeface="Arial"/>
            </a:endParaRPr>
          </a:p>
          <a:p>
            <a:pPr marL="742950" indent="-742950">
              <a:lnSpc>
                <a:spcPts val="2880"/>
              </a:lnSpc>
              <a:spcBef>
                <a:spcPts val="0"/>
              </a:spcBef>
              <a:spcAft>
                <a:spcPts val="992"/>
              </a:spcAft>
              <a:buAutoNum type="arabicPeriod"/>
            </a:pPr>
            <a:r>
              <a:rPr lang="en-GB" sz="3600">
                <a:solidFill>
                  <a:srgbClr val="FF0000"/>
                </a:solidFill>
                <a:cs typeface="Arial"/>
              </a:rPr>
              <a:t>Tell us how many rows your dataset has.</a:t>
            </a:r>
            <a:br>
              <a:rPr lang="en-GB" sz="3600" dirty="0">
                <a:solidFill>
                  <a:srgbClr val="FF0000"/>
                </a:solidFill>
                <a:cs typeface="Arial"/>
              </a:rPr>
            </a:br>
            <a:endParaRPr lang="en-GB" sz="3600">
              <a:solidFill>
                <a:srgbClr val="FF0000"/>
              </a:solidFill>
              <a:cs typeface="Arial"/>
            </a:endParaRPr>
          </a:p>
          <a:p>
            <a:endParaRPr lang="en-US">
              <a:solidFill>
                <a:srgbClr val="FF0000"/>
              </a:solidFill>
              <a:cs typeface="Arial"/>
            </a:endParaRPr>
          </a:p>
        </p:txBody>
      </p:sp>
    </p:spTree>
    <p:extLst>
      <p:ext uri="{BB962C8B-B14F-4D97-AF65-F5344CB8AC3E}">
        <p14:creationId xmlns:p14="http://schemas.microsoft.com/office/powerpoint/2010/main" val="713092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85092"/>
            <a:ext cx="10110240" cy="588024"/>
          </a:xfrm>
        </p:spPr>
        <p:txBody>
          <a:bodyPr vert="horz" lIns="0" tIns="0" rIns="0" bIns="0" rtlCol="0" anchor="t">
            <a:noAutofit/>
          </a:bodyPr>
          <a:lstStyle/>
          <a:p>
            <a:r>
              <a:rPr lang="en-US"/>
              <a:t>Dataset </a:t>
            </a:r>
            <a:r>
              <a:rPr lang="en-US">
                <a:solidFill>
                  <a:srgbClr val="203232"/>
                </a:solidFill>
              </a:rPr>
              <a:t>ID</a:t>
            </a:r>
            <a:r>
              <a:rPr lang="en-US" sz="1600">
                <a:solidFill>
                  <a:srgbClr val="FF0000"/>
                </a:solidFill>
              </a:rPr>
              <a:t>:   </a:t>
            </a:r>
            <a:r>
              <a:rPr lang="en-US" sz="2400">
                <a:solidFill>
                  <a:srgbClr val="FF0000"/>
                </a:solidFill>
              </a:rPr>
              <a:t>(replace this text with your DSXXX number and filename)</a:t>
            </a: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2"/>
            <a:ext cx="9129687" cy="230832"/>
          </a:xfrm>
        </p:spPr>
        <p:txBody>
          <a:bodyPr/>
          <a:lstStyle/>
          <a:p>
            <a:r>
              <a:rPr lang="en-GB"/>
              <a:t>7COM1079-2025  Student Group No:                    Names of Student Group Attendees: </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a:t>2</a:t>
            </a:r>
            <a:endParaRPr lang="en-GB"/>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965288" y="1698305"/>
            <a:ext cx="10974945" cy="2699181"/>
          </a:xfrm>
        </p:spPr>
        <p:txBody>
          <a:bodyPr>
            <a:noAutofit/>
          </a:bodyPr>
          <a:lstStyle/>
          <a:p>
            <a:pPr>
              <a:lnSpc>
                <a:spcPct val="100000"/>
              </a:lnSpc>
            </a:pPr>
            <a:r>
              <a:rPr lang="en-US" sz="2400" b="0">
                <a:latin typeface="Calibri"/>
                <a:cs typeface="Calibri"/>
              </a:rPr>
              <a:t>This dataset is interesting to us because </a:t>
            </a:r>
            <a:r>
              <a:rPr lang="en-US" sz="2400" b="0">
                <a:solidFill>
                  <a:srgbClr val="FF0000"/>
                </a:solidFill>
                <a:latin typeface="Calibri"/>
                <a:cs typeface="Calibri"/>
              </a:rPr>
              <a:t>(one sentence):</a:t>
            </a:r>
            <a:br>
              <a:rPr lang="en-US" sz="2400" b="0">
                <a:latin typeface="Calibri" panose="020F0502020204030204" pitchFamily="34" charset="0"/>
                <a:cs typeface="Calibri" panose="020F0502020204030204" pitchFamily="34" charset="0"/>
              </a:rPr>
            </a:br>
            <a:br>
              <a:rPr lang="en-US" sz="2400" b="0">
                <a:latin typeface="Calibri" panose="020F0502020204030204" pitchFamily="34" charset="0"/>
                <a:cs typeface="Calibri" panose="020F0502020204030204" pitchFamily="34" charset="0"/>
              </a:rPr>
            </a:br>
            <a:r>
              <a:rPr lang="en-US" sz="2400" b="0" i="1">
                <a:solidFill>
                  <a:schemeClr val="accent2">
                    <a:lumMod val="75000"/>
                  </a:schemeClr>
                </a:solidFill>
                <a:latin typeface="Calibri"/>
                <a:cs typeface="Calibri"/>
              </a:rPr>
              <a:t>From the column headings in your dataset choose ONE independent * and ONE dependent variable . </a:t>
            </a:r>
            <a:br>
              <a:rPr lang="en-US" sz="2400" b="0">
                <a:latin typeface="Calibri" panose="020F0502020204030204" pitchFamily="34" charset="0"/>
                <a:cs typeface="Calibri" panose="020F0502020204030204" pitchFamily="34" charset="0"/>
              </a:rPr>
            </a:br>
            <a:r>
              <a:rPr lang="en-US" sz="2400" b="0">
                <a:latin typeface="Calibri"/>
                <a:cs typeface="Calibri"/>
              </a:rPr>
              <a:t>Our  Independent variable is: (</a:t>
            </a:r>
            <a:r>
              <a:rPr lang="en-US" sz="2400" b="0">
                <a:solidFill>
                  <a:srgbClr val="FF0000"/>
                </a:solidFill>
                <a:latin typeface="Calibri"/>
                <a:cs typeface="Calibri"/>
              </a:rPr>
              <a:t>the variable that remains constant /could cause an effect  on dep var)</a:t>
            </a:r>
            <a:br>
              <a:rPr lang="en-US" sz="2400" b="0">
                <a:latin typeface="Calibri" panose="020F0502020204030204" pitchFamily="34" charset="0"/>
                <a:cs typeface="Calibri" panose="020F0502020204030204" pitchFamily="34" charset="0"/>
              </a:rPr>
            </a:br>
            <a:r>
              <a:rPr lang="en-US" sz="2400" b="0">
                <a:solidFill>
                  <a:srgbClr val="FF0000"/>
                </a:solidFill>
                <a:latin typeface="Calibri"/>
                <a:cs typeface="Calibri"/>
              </a:rPr>
              <a:t>                   </a:t>
            </a:r>
            <a:r>
              <a:rPr lang="en-US" sz="2400" b="0">
                <a:latin typeface="Calibri"/>
                <a:cs typeface="Calibri"/>
              </a:rPr>
              <a:t>This  Independent variable datatype is (select one): </a:t>
            </a:r>
            <a:r>
              <a:rPr lang="en-US" sz="2400" b="0">
                <a:solidFill>
                  <a:srgbClr val="FF0000"/>
                </a:solidFill>
                <a:latin typeface="Calibri"/>
                <a:cs typeface="Calibri"/>
              </a:rPr>
              <a:t>Nominal/categorial  OR Ordinal OR Interval/measurement data.</a:t>
            </a:r>
            <a:br>
              <a:rPr lang="en-US" sz="2400" b="0">
                <a:latin typeface="Calibri" panose="020F0502020204030204" pitchFamily="34" charset="0"/>
                <a:cs typeface="Calibri" panose="020F0502020204030204" pitchFamily="34" charset="0"/>
              </a:rPr>
            </a:br>
            <a:r>
              <a:rPr lang="en-US" sz="2400" b="0">
                <a:latin typeface="Calibri"/>
                <a:cs typeface="Calibri"/>
              </a:rPr>
              <a:t>Our Dependent variable is: </a:t>
            </a:r>
            <a:r>
              <a:rPr lang="en-US" sz="2400" b="0">
                <a:solidFill>
                  <a:srgbClr val="FF0000"/>
                </a:solidFill>
                <a:latin typeface="Calibri"/>
                <a:cs typeface="Calibri"/>
              </a:rPr>
              <a:t>(your outcome variable that answers your RQ)</a:t>
            </a:r>
            <a:br>
              <a:rPr lang="en-US" sz="2400" b="0">
                <a:latin typeface="Calibri" panose="020F0502020204030204" pitchFamily="34" charset="0"/>
                <a:cs typeface="Calibri" panose="020F0502020204030204" pitchFamily="34" charset="0"/>
              </a:rPr>
            </a:br>
            <a:r>
              <a:rPr lang="en-US" sz="2400" b="0">
                <a:solidFill>
                  <a:srgbClr val="FF0000"/>
                </a:solidFill>
                <a:latin typeface="Calibri"/>
                <a:cs typeface="Calibri"/>
              </a:rPr>
              <a:t>                   </a:t>
            </a:r>
            <a:r>
              <a:rPr lang="en-US" sz="2400" b="0">
                <a:latin typeface="Calibri"/>
                <a:cs typeface="Calibri"/>
              </a:rPr>
              <a:t>This Dependent variable datatype is  (select one): </a:t>
            </a:r>
            <a:r>
              <a:rPr lang="en-US" sz="2400" b="0">
                <a:solidFill>
                  <a:srgbClr val="FF0000"/>
                </a:solidFill>
                <a:latin typeface="Calibri"/>
                <a:cs typeface="Calibri"/>
              </a:rPr>
              <a:t>Nominal/categorial  OR Ordinal OR Interval/measurement data</a:t>
            </a:r>
          </a:p>
        </p:txBody>
      </p:sp>
      <p:sp>
        <p:nvSpPr>
          <p:cNvPr id="6" name="TextBox 5">
            <a:extLst>
              <a:ext uri="{FF2B5EF4-FFF2-40B4-BE49-F238E27FC236}">
                <a16:creationId xmlns:a16="http://schemas.microsoft.com/office/drawing/2014/main" id="{732D6C0D-D649-2AA9-7741-835F3E841A25}"/>
              </a:ext>
            </a:extLst>
          </p:cNvPr>
          <p:cNvSpPr txBox="1"/>
          <p:nvPr/>
        </p:nvSpPr>
        <p:spPr>
          <a:xfrm>
            <a:off x="6766560" y="5385816"/>
            <a:ext cx="4187952" cy="1200329"/>
          </a:xfrm>
          <a:prstGeom prst="rect">
            <a:avLst/>
          </a:prstGeom>
          <a:noFill/>
        </p:spPr>
        <p:txBody>
          <a:bodyPr wrap="square" rtlCol="0">
            <a:spAutoFit/>
          </a:bodyPr>
          <a:lstStyle/>
          <a:p>
            <a:r>
              <a:rPr lang="en-GB">
                <a:solidFill>
                  <a:schemeClr val="accent2">
                    <a:lumMod val="75000"/>
                  </a:schemeClr>
                </a:solidFill>
              </a:rPr>
              <a:t>*For comparison of two nominal variables and for comparison of proportions you use two (or more) independent variables (see next slide)</a:t>
            </a:r>
          </a:p>
        </p:txBody>
      </p:sp>
    </p:spTree>
    <p:extLst>
      <p:ext uri="{BB962C8B-B14F-4D97-AF65-F5344CB8AC3E}">
        <p14:creationId xmlns:p14="http://schemas.microsoft.com/office/powerpoint/2010/main" val="1718004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a:lstStyle/>
          <a:p>
            <a:pPr>
              <a:spcAft>
                <a:spcPts val="0"/>
              </a:spcAft>
            </a:pPr>
            <a:r>
              <a:rPr lang="en-GB"/>
              <a:t>Our Research Question is </a:t>
            </a:r>
            <a:r>
              <a:rPr lang="en-GB" sz="1800">
                <a:solidFill>
                  <a:srgbClr val="FF0000"/>
                </a:solidFill>
              </a:rPr>
              <a:t>Choose ONE of the three templates below replacing the blue text with your variables – then add hypotheses as shown in next slide:</a:t>
            </a: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a:t>PRE 7COM1079-2025  Student Group No: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965289" y="1893914"/>
            <a:ext cx="10640594" cy="2678085"/>
          </a:xfrm>
        </p:spPr>
        <p:txBody>
          <a:bodyPr>
            <a:noAutofit/>
          </a:bodyPr>
          <a:lstStyle/>
          <a:p>
            <a:pPr>
              <a:lnSpc>
                <a:spcPct val="100000"/>
              </a:lnSpc>
            </a:pPr>
            <a:r>
              <a:rPr lang="en-IE" sz="2400">
                <a:effectLst/>
                <a:latin typeface="Calibri"/>
                <a:ea typeface="Calibri" panose="020F0502020204030204" pitchFamily="34" charset="0"/>
                <a:cs typeface="Times New Roman"/>
              </a:rPr>
              <a:t>Template </a:t>
            </a:r>
            <a:r>
              <a:rPr lang="en-IE" sz="2400" baseline="30000">
                <a:effectLst/>
                <a:latin typeface="Calibri"/>
                <a:ea typeface="Calibri" panose="020F0502020204030204" pitchFamily="34" charset="0"/>
                <a:cs typeface="Times New Roman"/>
              </a:rPr>
              <a:t>1</a:t>
            </a:r>
            <a:r>
              <a:rPr lang="en-IE" sz="2400">
                <a:effectLst/>
                <a:latin typeface="Calibri"/>
                <a:ea typeface="Calibri" panose="020F0502020204030204" pitchFamily="34" charset="0"/>
                <a:cs typeface="Times New Roman"/>
              </a:rPr>
              <a:t>: </a:t>
            </a:r>
            <a:r>
              <a:rPr lang="en-IE" sz="2400" b="0">
                <a:effectLst/>
                <a:latin typeface="Calibri"/>
                <a:ea typeface="Calibri" panose="020F0502020204030204" pitchFamily="34" charset="0"/>
                <a:cs typeface="Times New Roman"/>
              </a:rPr>
              <a:t>Interval/Ordinal vs Interval/Ordinal: “Is there a correlation between </a:t>
            </a:r>
            <a:r>
              <a:rPr lang="en-IE" sz="2400" b="0">
                <a:solidFill>
                  <a:srgbClr val="0070C0"/>
                </a:solidFill>
                <a:effectLst/>
                <a:latin typeface="Calibri"/>
                <a:ea typeface="Calibri" panose="020F0502020204030204" pitchFamily="34" charset="0"/>
                <a:cs typeface="Times New Roman"/>
              </a:rPr>
              <a:t>[dependent interval </a:t>
            </a:r>
            <a:r>
              <a:rPr lang="en-IE" sz="2400" b="0">
                <a:effectLst/>
                <a:latin typeface="Calibri"/>
                <a:ea typeface="Calibri" panose="020F0502020204030204" pitchFamily="34" charset="0"/>
                <a:cs typeface="Times New Roman"/>
              </a:rPr>
              <a:t>or</a:t>
            </a:r>
            <a:r>
              <a:rPr lang="en-IE" sz="2400" b="0">
                <a:solidFill>
                  <a:srgbClr val="0070C0"/>
                </a:solidFill>
                <a:effectLst/>
                <a:latin typeface="Calibri"/>
                <a:ea typeface="Calibri" panose="020F0502020204030204" pitchFamily="34" charset="0"/>
                <a:cs typeface="Times New Roman"/>
              </a:rPr>
              <a:t> ordinal variable] </a:t>
            </a:r>
            <a:r>
              <a:rPr lang="en-IE" sz="2400" b="0">
                <a:effectLst/>
                <a:latin typeface="Calibri"/>
                <a:ea typeface="Calibri" panose="020F0502020204030204" pitchFamily="34" charset="0"/>
                <a:cs typeface="Times New Roman"/>
              </a:rPr>
              <a:t>and </a:t>
            </a:r>
            <a:r>
              <a:rPr lang="en-IE" sz="2400" b="0">
                <a:solidFill>
                  <a:srgbClr val="0070C0"/>
                </a:solidFill>
                <a:effectLst/>
                <a:latin typeface="Calibri"/>
                <a:ea typeface="Calibri" panose="020F0502020204030204" pitchFamily="34" charset="0"/>
                <a:cs typeface="Times New Roman"/>
              </a:rPr>
              <a:t>[independent interval </a:t>
            </a:r>
            <a:r>
              <a:rPr lang="en-IE" sz="2400" b="0">
                <a:effectLst/>
                <a:latin typeface="Calibri"/>
                <a:ea typeface="Calibri" panose="020F0502020204030204" pitchFamily="34" charset="0"/>
                <a:cs typeface="Times New Roman"/>
              </a:rPr>
              <a:t>or</a:t>
            </a:r>
            <a:r>
              <a:rPr lang="en-IE" sz="2400" b="0">
                <a:solidFill>
                  <a:srgbClr val="0070C0"/>
                </a:solidFill>
                <a:effectLst/>
                <a:latin typeface="Calibri"/>
                <a:ea typeface="Calibri" panose="020F0502020204030204" pitchFamily="34" charset="0"/>
                <a:cs typeface="Times New Roman"/>
              </a:rPr>
              <a:t> ordinal variable?]”</a:t>
            </a:r>
            <a:r>
              <a:rPr lang="en-IE" sz="2400" b="0">
                <a:effectLst/>
                <a:latin typeface="Calibri"/>
                <a:ea typeface="Calibri" panose="020F0502020204030204" pitchFamily="34" charset="0"/>
                <a:cs typeface="Times New Roman"/>
              </a:rPr>
              <a:t>. </a:t>
            </a:r>
            <a:br>
              <a:rPr lang="en-IE" sz="2400">
                <a:effectLst/>
                <a:latin typeface="Calibri" panose="020F0502020204030204" pitchFamily="34" charset="0"/>
                <a:ea typeface="Calibri" panose="020F0502020204030204" pitchFamily="34" charset="0"/>
                <a:cs typeface="Times New Roman" panose="02020603050405020304" pitchFamily="18" charset="0"/>
              </a:rPr>
            </a:br>
            <a:br>
              <a:rPr lang="en-IE" sz="2400">
                <a:effectLst/>
                <a:latin typeface="Calibri" panose="020F0502020204030204" pitchFamily="34" charset="0"/>
                <a:ea typeface="Calibri" panose="020F0502020204030204" pitchFamily="34" charset="0"/>
                <a:cs typeface="Times New Roman" panose="02020603050405020304" pitchFamily="18" charset="0"/>
              </a:rPr>
            </a:br>
            <a:r>
              <a:rPr lang="en-IE" sz="2400">
                <a:effectLst/>
                <a:latin typeface="Calibri"/>
                <a:ea typeface="Calibri" panose="020F0502020204030204" pitchFamily="34" charset="0"/>
                <a:cs typeface="Times New Roman"/>
              </a:rPr>
              <a:t>Template</a:t>
            </a:r>
            <a:r>
              <a:rPr lang="en-IE" sz="2400" baseline="30000">
                <a:effectLst/>
                <a:latin typeface="Calibri"/>
                <a:ea typeface="Calibri" panose="020F0502020204030204" pitchFamily="34" charset="0"/>
                <a:cs typeface="Times New Roman"/>
              </a:rPr>
              <a:t>2</a:t>
            </a:r>
            <a:r>
              <a:rPr lang="en-IE" sz="2400">
                <a:effectLst/>
                <a:latin typeface="Calibri"/>
                <a:ea typeface="Calibri" panose="020F0502020204030204" pitchFamily="34" charset="0"/>
                <a:cs typeface="Times New Roman"/>
              </a:rPr>
              <a:t> :</a:t>
            </a:r>
            <a:r>
              <a:rPr lang="en-IE" sz="2400" b="0">
                <a:effectLst/>
                <a:latin typeface="Calibri"/>
                <a:ea typeface="Calibri" panose="020F0502020204030204" pitchFamily="34" charset="0"/>
                <a:cs typeface="Times New Roman"/>
              </a:rPr>
              <a:t>Interval/Ordinal vs Nominal. data “Is there a difference in the mean of </a:t>
            </a:r>
            <a:r>
              <a:rPr lang="en-IE" sz="2400" b="0">
                <a:solidFill>
                  <a:srgbClr val="0070C0"/>
                </a:solidFill>
                <a:effectLst/>
                <a:latin typeface="Calibri"/>
                <a:ea typeface="Calibri" panose="020F0502020204030204" pitchFamily="34" charset="0"/>
                <a:cs typeface="Times New Roman"/>
              </a:rPr>
              <a:t>[dependent interval variable </a:t>
            </a:r>
            <a:r>
              <a:rPr lang="en-IE" sz="2400" b="0">
                <a:solidFill>
                  <a:srgbClr val="0070C0"/>
                </a:solidFill>
                <a:latin typeface="Calibri"/>
                <a:ea typeface="Calibri" panose="020F0502020204030204" pitchFamily="34" charset="0"/>
                <a:cs typeface="Times New Roman"/>
              </a:rPr>
              <a:t> </a:t>
            </a:r>
            <a:r>
              <a:rPr lang="en-IE" sz="2400" b="0">
                <a:latin typeface="Calibri"/>
                <a:ea typeface="Calibri" panose="020F0502020204030204" pitchFamily="34" charset="0"/>
                <a:cs typeface="Times New Roman"/>
              </a:rPr>
              <a:t>or</a:t>
            </a:r>
            <a:r>
              <a:rPr lang="en-IE" sz="2400" b="0">
                <a:effectLst/>
                <a:latin typeface="Calibri"/>
                <a:ea typeface="Calibri" panose="020F0502020204030204" pitchFamily="34" charset="0"/>
                <a:cs typeface="Times New Roman"/>
              </a:rPr>
              <a:t> </a:t>
            </a:r>
            <a:r>
              <a:rPr lang="en-IE" sz="2400" b="0">
                <a:solidFill>
                  <a:srgbClr val="0070C0"/>
                </a:solidFill>
                <a:effectLst/>
                <a:latin typeface="Calibri"/>
                <a:ea typeface="Calibri" panose="020F0502020204030204" pitchFamily="34" charset="0"/>
                <a:cs typeface="Times New Roman"/>
              </a:rPr>
              <a:t> dependent ordinal variable] </a:t>
            </a:r>
            <a:r>
              <a:rPr lang="en-IE" sz="2400" b="0">
                <a:effectLst/>
                <a:latin typeface="Calibri"/>
                <a:ea typeface="Calibri" panose="020F0502020204030204" pitchFamily="34" charset="0"/>
                <a:cs typeface="Times New Roman"/>
              </a:rPr>
              <a:t>between</a:t>
            </a:r>
            <a:r>
              <a:rPr lang="en-IE" sz="2400" b="0">
                <a:latin typeface="Calibri"/>
                <a:ea typeface="Calibri" panose="020F0502020204030204" pitchFamily="34" charset="0"/>
                <a:cs typeface="Times New Roman"/>
              </a:rPr>
              <a:t>/among</a:t>
            </a:r>
            <a:r>
              <a:rPr lang="en-IE" sz="2400" b="0">
                <a:effectLst/>
                <a:latin typeface="Calibri"/>
                <a:ea typeface="Calibri" panose="020F0502020204030204" pitchFamily="34" charset="0"/>
                <a:cs typeface="Times New Roman"/>
              </a:rPr>
              <a:t> </a:t>
            </a:r>
            <a:r>
              <a:rPr lang="en-IE" sz="2400" b="0">
                <a:solidFill>
                  <a:srgbClr val="0070C0"/>
                </a:solidFill>
                <a:effectLst/>
                <a:latin typeface="Calibri"/>
                <a:ea typeface="Calibri" panose="020F0502020204030204" pitchFamily="34" charset="0"/>
                <a:cs typeface="Times New Roman"/>
              </a:rPr>
              <a:t>[independent nominal variable] and [independent nominal variable?]</a:t>
            </a:r>
            <a:r>
              <a:rPr lang="en-IE" sz="2400" b="0">
                <a:effectLst/>
                <a:latin typeface="Calibri"/>
                <a:ea typeface="Calibri" panose="020F0502020204030204" pitchFamily="34" charset="0"/>
                <a:cs typeface="Times New Roman"/>
              </a:rPr>
              <a:t>”.</a:t>
            </a:r>
            <a:br>
              <a:rPr lang="en-GB" sz="2400" b="0">
                <a:effectLst/>
                <a:latin typeface="Calibri" panose="020F0502020204030204" pitchFamily="34" charset="0"/>
                <a:ea typeface="Calibri" panose="020F0502020204030204" pitchFamily="34" charset="0"/>
                <a:cs typeface="Times New Roman" panose="02020603050405020304" pitchFamily="18" charset="0"/>
              </a:rPr>
            </a:br>
            <a:br>
              <a:rPr lang="en-IE" sz="2400">
                <a:effectLst/>
                <a:latin typeface="Calibri" panose="020F0502020204030204" pitchFamily="34" charset="0"/>
                <a:ea typeface="Calibri" panose="020F0502020204030204" pitchFamily="34" charset="0"/>
                <a:cs typeface="Times New Roman" panose="02020603050405020304" pitchFamily="18" charset="0"/>
              </a:rPr>
            </a:br>
            <a:r>
              <a:rPr lang="en-IE" sz="2400">
                <a:solidFill>
                  <a:srgbClr val="000000"/>
                </a:solidFill>
                <a:effectLst/>
                <a:latin typeface="Calibri"/>
                <a:ea typeface="Calibri" panose="020F0502020204030204" pitchFamily="34" charset="0"/>
                <a:cs typeface="Times New Roman"/>
              </a:rPr>
              <a:t>Template </a:t>
            </a:r>
            <a:r>
              <a:rPr lang="en-IE" sz="2400" baseline="30000">
                <a:solidFill>
                  <a:srgbClr val="000000"/>
                </a:solidFill>
                <a:effectLst/>
                <a:latin typeface="Calibri"/>
                <a:ea typeface="Calibri" panose="020F0502020204030204" pitchFamily="34" charset="0"/>
                <a:cs typeface="Times New Roman"/>
              </a:rPr>
              <a:t>3</a:t>
            </a:r>
            <a:r>
              <a:rPr lang="en-IE" sz="2400">
                <a:solidFill>
                  <a:srgbClr val="000000"/>
                </a:solidFill>
                <a:effectLst/>
                <a:latin typeface="Calibri"/>
                <a:ea typeface="Calibri" panose="020F0502020204030204" pitchFamily="34" charset="0"/>
                <a:cs typeface="Times New Roman"/>
              </a:rPr>
              <a:t>:  </a:t>
            </a:r>
            <a:r>
              <a:rPr lang="en-IE" sz="2400" b="0">
                <a:solidFill>
                  <a:srgbClr val="000000"/>
                </a:solidFill>
                <a:effectLst/>
                <a:latin typeface="Calibri"/>
                <a:ea typeface="Calibri" panose="020F0502020204030204" pitchFamily="34" charset="0"/>
                <a:cs typeface="Times New Roman"/>
              </a:rPr>
              <a:t>Nominal vs Nominal  data (frequencies): “</a:t>
            </a:r>
            <a:r>
              <a:rPr lang="en-IE" sz="2400" b="0">
                <a:effectLst/>
                <a:latin typeface="Calibri"/>
                <a:ea typeface="Calibri" panose="020F0502020204030204" pitchFamily="34" charset="0"/>
                <a:cs typeface="Times New Roman"/>
              </a:rPr>
              <a:t>Is there a difference in proportions of </a:t>
            </a:r>
            <a:r>
              <a:rPr lang="en-IE" sz="2400" b="0">
                <a:solidFill>
                  <a:srgbClr val="0070C0"/>
                </a:solidFill>
                <a:effectLst/>
                <a:latin typeface="Calibri"/>
                <a:ea typeface="Calibri" panose="020F0502020204030204" pitchFamily="34" charset="0"/>
                <a:cs typeface="Times New Roman"/>
              </a:rPr>
              <a:t>[dependent nominal variable] </a:t>
            </a:r>
            <a:r>
              <a:rPr lang="en-IE" sz="2400" b="0">
                <a:effectLst/>
                <a:latin typeface="Calibri"/>
                <a:ea typeface="Calibri" panose="020F0502020204030204" pitchFamily="34" charset="0"/>
                <a:cs typeface="Times New Roman"/>
              </a:rPr>
              <a:t>between </a:t>
            </a:r>
            <a:r>
              <a:rPr lang="en-IE" sz="2400" b="0">
                <a:solidFill>
                  <a:srgbClr val="0070C0"/>
                </a:solidFill>
                <a:effectLst/>
                <a:latin typeface="Calibri"/>
                <a:ea typeface="Calibri" panose="020F0502020204030204" pitchFamily="34" charset="0"/>
                <a:cs typeface="Times New Roman"/>
              </a:rPr>
              <a:t>[independent nominal variable] </a:t>
            </a:r>
            <a:r>
              <a:rPr lang="en-IE" sz="2400" b="0">
                <a:effectLst/>
                <a:latin typeface="Calibri"/>
                <a:ea typeface="Calibri" panose="020F0502020204030204" pitchFamily="34" charset="0"/>
                <a:cs typeface="Times New Roman"/>
              </a:rPr>
              <a:t>and </a:t>
            </a:r>
            <a:r>
              <a:rPr lang="en-IE" sz="2400" b="0">
                <a:solidFill>
                  <a:srgbClr val="0070C0"/>
                </a:solidFill>
                <a:effectLst/>
                <a:latin typeface="Calibri"/>
                <a:ea typeface="Calibri" panose="020F0502020204030204" pitchFamily="34" charset="0"/>
                <a:cs typeface="Times New Roman"/>
              </a:rPr>
              <a:t>[independent nominal variable]?”</a:t>
            </a:r>
            <a:br>
              <a:rPr lang="en-GB" sz="2400">
                <a:effectLst/>
                <a:latin typeface="Calibri" panose="020F0502020204030204" pitchFamily="34" charset="0"/>
                <a:ea typeface="Calibri" panose="020F0502020204030204" pitchFamily="34" charset="0"/>
                <a:cs typeface="Times New Roman" panose="02020603050405020304" pitchFamily="18" charset="0"/>
              </a:rPr>
            </a:br>
            <a:endParaRPr lang="en-GB" sz="2400">
              <a:solidFill>
                <a:srgbClr val="FF0000"/>
              </a:solidFill>
            </a:endParaRPr>
          </a:p>
        </p:txBody>
      </p:sp>
      <p:sp>
        <p:nvSpPr>
          <p:cNvPr id="7" name="TextBox 6">
            <a:extLst>
              <a:ext uri="{FF2B5EF4-FFF2-40B4-BE49-F238E27FC236}">
                <a16:creationId xmlns:a16="http://schemas.microsoft.com/office/drawing/2014/main" id="{F7FEA660-7B39-BC91-3B96-7298CCF66DE1}"/>
              </a:ext>
            </a:extLst>
          </p:cNvPr>
          <p:cNvSpPr txBox="1"/>
          <p:nvPr/>
        </p:nvSpPr>
        <p:spPr>
          <a:xfrm>
            <a:off x="623945" y="5297755"/>
            <a:ext cx="11440040" cy="1477328"/>
          </a:xfrm>
          <a:prstGeom prst="rect">
            <a:avLst/>
          </a:prstGeom>
          <a:solidFill>
            <a:schemeClr val="bg1">
              <a:lumMod val="95000"/>
            </a:schemeClr>
          </a:solidFill>
        </p:spPr>
        <p:txBody>
          <a:bodyPr wrap="square" lIns="91440" tIns="45720" rIns="91440" bIns="45720" rtlCol="0" anchor="t">
            <a:spAutoFit/>
          </a:bodyPr>
          <a:lstStyle/>
          <a:p>
            <a:r>
              <a:rPr lang="en-GB" baseline="30000"/>
              <a:t>1</a:t>
            </a:r>
            <a:r>
              <a:rPr lang="en-GB" b="1">
                <a:latin typeface="Calibri"/>
                <a:cs typeface="Calibri"/>
              </a:rPr>
              <a:t>Correlation</a:t>
            </a:r>
            <a:r>
              <a:rPr lang="en-GB"/>
              <a:t> (</a:t>
            </a:r>
            <a:r>
              <a:rPr lang="en-IE" sz="1800">
                <a:effectLst/>
                <a:latin typeface="Calibri"/>
                <a:ea typeface="Calibri" panose="020F0502020204030204" pitchFamily="34" charset="0"/>
                <a:cs typeface="Times New Roman"/>
              </a:rPr>
              <a:t>Analysis of how </a:t>
            </a:r>
            <a:r>
              <a:rPr lang="en-IE" sz="1800">
                <a:solidFill>
                  <a:srgbClr val="FF0000"/>
                </a:solidFill>
                <a:effectLst/>
                <a:latin typeface="Calibri"/>
                <a:ea typeface="Calibri" panose="020F0502020204030204" pitchFamily="34" charset="0"/>
                <a:cs typeface="Times New Roman"/>
              </a:rPr>
              <a:t>ordinal</a:t>
            </a:r>
            <a:r>
              <a:rPr lang="en-IE">
                <a:solidFill>
                  <a:srgbClr val="FF0000"/>
                </a:solidFill>
                <a:latin typeface="Calibri"/>
                <a:ea typeface="Calibri" panose="020F0502020204030204" pitchFamily="34" charset="0"/>
                <a:cs typeface="Times New Roman"/>
              </a:rPr>
              <a:t>/</a:t>
            </a:r>
            <a:r>
              <a:rPr lang="en-IE" sz="1800">
                <a:solidFill>
                  <a:srgbClr val="FF0000"/>
                </a:solidFill>
                <a:effectLst/>
                <a:latin typeface="Calibri"/>
                <a:ea typeface="Calibri" panose="020F0502020204030204" pitchFamily="34" charset="0"/>
                <a:cs typeface="Times New Roman"/>
              </a:rPr>
              <a:t>interval </a:t>
            </a:r>
            <a:r>
              <a:rPr lang="en-IE" sz="1800">
                <a:solidFill>
                  <a:srgbClr val="00B050"/>
                </a:solidFill>
                <a:effectLst/>
                <a:latin typeface="Calibri"/>
                <a:ea typeface="Calibri" panose="020F0502020204030204" pitchFamily="34" charset="0"/>
                <a:cs typeface="Times New Roman"/>
              </a:rPr>
              <a:t>dependent var</a:t>
            </a:r>
            <a:r>
              <a:rPr lang="en-IE" sz="1800">
                <a:effectLst/>
                <a:latin typeface="Calibri"/>
                <a:ea typeface="Calibri" panose="020F0502020204030204" pitchFamily="34" charset="0"/>
                <a:cs typeface="Times New Roman"/>
              </a:rPr>
              <a:t> </a:t>
            </a:r>
            <a:r>
              <a:rPr lang="en-IE">
                <a:latin typeface="Calibri"/>
                <a:ea typeface="Calibri" panose="020F0502020204030204" pitchFamily="34" charset="0"/>
                <a:cs typeface="Times New Roman"/>
              </a:rPr>
              <a:t>correlates </a:t>
            </a:r>
            <a:r>
              <a:rPr lang="en-IE" sz="1800">
                <a:effectLst/>
                <a:latin typeface="Calibri"/>
                <a:ea typeface="Calibri" panose="020F0502020204030204" pitchFamily="34" charset="0"/>
                <a:cs typeface="Times New Roman"/>
              </a:rPr>
              <a:t>to an </a:t>
            </a:r>
            <a:r>
              <a:rPr lang="en-IE" sz="1800">
                <a:solidFill>
                  <a:srgbClr val="FF0000"/>
                </a:solidFill>
                <a:effectLst/>
                <a:latin typeface="Calibri"/>
                <a:ea typeface="Calibri" panose="020F0502020204030204" pitchFamily="34" charset="0"/>
                <a:cs typeface="Times New Roman"/>
              </a:rPr>
              <a:t>ordinal/interval </a:t>
            </a:r>
            <a:r>
              <a:rPr lang="en-IE" sz="1800">
                <a:solidFill>
                  <a:srgbClr val="00B050"/>
                </a:solidFill>
                <a:effectLst/>
                <a:latin typeface="Calibri"/>
                <a:ea typeface="Calibri" panose="020F0502020204030204" pitchFamily="34" charset="0"/>
                <a:cs typeface="Times New Roman"/>
              </a:rPr>
              <a:t>independent variable)</a:t>
            </a:r>
            <a:endParaRPr lang="en-GB">
              <a:latin typeface="Calibri"/>
              <a:cs typeface="Times New Roman"/>
            </a:endParaRPr>
          </a:p>
          <a:p>
            <a:r>
              <a:rPr lang="en-IE" sz="1800" b="1" baseline="30000">
                <a:effectLst/>
                <a:latin typeface="Calibri" panose="020F0502020204030204" pitchFamily="34" charset="0"/>
                <a:ea typeface="Calibri" panose="020F0502020204030204" pitchFamily="34" charset="0"/>
                <a:cs typeface="Times New Roman" panose="02020603050405020304" pitchFamily="18" charset="0"/>
              </a:rPr>
              <a:t>2</a:t>
            </a:r>
            <a:r>
              <a:rPr lang="en-IE" sz="1800" b="1">
                <a:effectLst/>
                <a:latin typeface="Calibri" panose="020F0502020204030204" pitchFamily="34" charset="0"/>
                <a:ea typeface="Calibri" panose="020F0502020204030204" pitchFamily="34" charset="0"/>
                <a:cs typeface="Times New Roman" panose="02020603050405020304" pitchFamily="18" charset="0"/>
              </a:rPr>
              <a:t>Comparison of means</a:t>
            </a:r>
            <a:r>
              <a:rPr lang="en-IE" sz="1800">
                <a:effectLst/>
                <a:latin typeface="Calibri" panose="020F0502020204030204" pitchFamily="34" charset="0"/>
                <a:ea typeface="Calibri" panose="020F0502020204030204" pitchFamily="34" charset="0"/>
                <a:cs typeface="Times New Roman" panose="02020603050405020304" pitchFamily="18" charset="0"/>
              </a:rPr>
              <a:t> (or medians): Analysis of the difference between the mean (or median) value of a characteristic shared by members of two different populations.</a:t>
            </a:r>
          </a:p>
          <a:p>
            <a:r>
              <a:rPr lang="en-IE" sz="1800" b="1" baseline="30000">
                <a:effectLst/>
                <a:latin typeface="Calibri" panose="020F0502020204030204" pitchFamily="34" charset="0"/>
                <a:ea typeface="Calibri" panose="020F0502020204030204" pitchFamily="34" charset="0"/>
                <a:cs typeface="Times New Roman" panose="02020603050405020304" pitchFamily="18" charset="0"/>
              </a:rPr>
              <a:t>3</a:t>
            </a:r>
            <a:r>
              <a:rPr lang="en-IE" sz="1800" b="1">
                <a:effectLst/>
                <a:latin typeface="Calibri" panose="020F0502020204030204" pitchFamily="34" charset="0"/>
                <a:ea typeface="Calibri" panose="020F0502020204030204" pitchFamily="34" charset="0"/>
                <a:cs typeface="Times New Roman" panose="02020603050405020304" pitchFamily="18" charset="0"/>
              </a:rPr>
              <a:t>Comparison of proportions:</a:t>
            </a:r>
            <a:r>
              <a:rPr lang="en-IE" sz="1800">
                <a:effectLst/>
                <a:latin typeface="Calibri" panose="020F0502020204030204" pitchFamily="34" charset="0"/>
                <a:ea typeface="Calibri" panose="020F0502020204030204" pitchFamily="34" charset="0"/>
                <a:cs typeface="Times New Roman" panose="02020603050405020304" pitchFamily="18" charset="0"/>
              </a:rPr>
              <a:t> Analysis of the difference in proportions of a characteristic shared by members of two different populations. </a:t>
            </a:r>
            <a:endParaRPr lang="en-GB"/>
          </a:p>
        </p:txBody>
      </p:sp>
    </p:spTree>
    <p:extLst>
      <p:ext uri="{BB962C8B-B14F-4D97-AF65-F5344CB8AC3E}">
        <p14:creationId xmlns:p14="http://schemas.microsoft.com/office/powerpoint/2010/main" val="32494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B64221B-D6D4-E382-A91A-99FF908D5475}"/>
              </a:ext>
            </a:extLst>
          </p:cNvPr>
          <p:cNvSpPr>
            <a:spLocks noGrp="1"/>
          </p:cNvSpPr>
          <p:nvPr>
            <p:ph type="subTitle" idx="1"/>
          </p:nvPr>
        </p:nvSpPr>
        <p:spPr>
          <a:xfrm>
            <a:off x="521219" y="284375"/>
            <a:ext cx="10406581" cy="1391600"/>
          </a:xfrm>
        </p:spPr>
        <p:txBody>
          <a:bodyPr vert="horz" lIns="0" tIns="0" rIns="0" bIns="0" rtlCol="0" anchor="t">
            <a:noAutofit/>
          </a:bodyPr>
          <a:lstStyle/>
          <a:p>
            <a:pPr>
              <a:lnSpc>
                <a:spcPct val="100000"/>
              </a:lnSpc>
            </a:pPr>
            <a:r>
              <a:rPr lang="en-GB" sz="2400" b="0" dirty="0">
                <a:latin typeface="Calibri"/>
                <a:cs typeface="Calibri"/>
              </a:rPr>
              <a:t>Add your </a:t>
            </a:r>
            <a:r>
              <a:rPr lang="en-GB" sz="2400" dirty="0">
                <a:latin typeface="Calibri"/>
                <a:cs typeface="Calibri"/>
              </a:rPr>
              <a:t>Hypotheses</a:t>
            </a:r>
            <a:r>
              <a:rPr lang="en-GB" sz="2400" b="0" dirty="0">
                <a:latin typeface="Calibri"/>
                <a:cs typeface="Calibri"/>
              </a:rPr>
              <a:t> to the previous RQ Slide  (both the Null and Alternative Hypotheses).  Here are definitions and examples. </a:t>
            </a:r>
            <a:r>
              <a:rPr lang="en-GB" sz="2400">
                <a:latin typeface="Calibri"/>
                <a:cs typeface="Calibri"/>
              </a:rPr>
              <a:t>Your hypothesis wording comes directly from your </a:t>
            </a:r>
            <a:r>
              <a:rPr lang="en-GB" sz="2400" dirty="0">
                <a:latin typeface="Calibri"/>
                <a:cs typeface="Calibri"/>
              </a:rPr>
              <a:t>RQ</a:t>
            </a:r>
            <a:r>
              <a:rPr lang="en-GB" sz="2400" b="0" dirty="0">
                <a:latin typeface="Calibri"/>
                <a:cs typeface="Calibri"/>
              </a:rPr>
              <a:t>. This is the formal way of reporting the results of your inferential test statistics,  in which we report the </a:t>
            </a:r>
            <a:r>
              <a:rPr lang="en-GB" sz="2400" b="0" i="1" dirty="0">
                <a:latin typeface="Calibri"/>
                <a:cs typeface="Calibri"/>
              </a:rPr>
              <a:t>effect</a:t>
            </a:r>
            <a:r>
              <a:rPr lang="en-GB" sz="2400" b="0" dirty="0">
                <a:latin typeface="Calibri"/>
                <a:cs typeface="Calibri"/>
              </a:rPr>
              <a:t> the independent variable has on the dependent variable – </a:t>
            </a:r>
          </a:p>
          <a:p>
            <a:pPr marL="457200" indent="-457200">
              <a:lnSpc>
                <a:spcPct val="100000"/>
              </a:lnSpc>
              <a:buAutoNum type="arabicPeriod"/>
            </a:pPr>
            <a:r>
              <a:rPr lang="en-GB" sz="2000" b="0">
                <a:latin typeface="Arial"/>
                <a:cs typeface="Arial"/>
              </a:rPr>
              <a:t>Null hypothesis (H</a:t>
            </a:r>
            <a:r>
              <a:rPr lang="en-GB" sz="2000" b="0" baseline="-25000">
                <a:latin typeface="Arial"/>
                <a:cs typeface="Arial"/>
              </a:rPr>
              <a:t>0</a:t>
            </a:r>
            <a:r>
              <a:rPr lang="en-GB" sz="2000" b="0">
                <a:latin typeface="Arial"/>
                <a:cs typeface="Arial"/>
              </a:rPr>
              <a:t>): There is </a:t>
            </a:r>
            <a:r>
              <a:rPr lang="en-GB" sz="2000">
                <a:latin typeface="Arial"/>
                <a:cs typeface="Arial"/>
              </a:rPr>
              <a:t>no </a:t>
            </a:r>
            <a:r>
              <a:rPr lang="en-GB" sz="2000" b="0">
                <a:latin typeface="Arial"/>
                <a:cs typeface="Arial"/>
              </a:rPr>
              <a:t>effect on the population – so you write one of the following:  </a:t>
            </a:r>
          </a:p>
          <a:p>
            <a:pPr>
              <a:lnSpc>
                <a:spcPct val="100000"/>
              </a:lnSpc>
            </a:pPr>
            <a:r>
              <a:rPr lang="en-GB" sz="2000" b="0">
                <a:solidFill>
                  <a:srgbClr val="FF0000"/>
                </a:solidFill>
                <a:latin typeface="Arial"/>
                <a:cs typeface="Arial"/>
              </a:rPr>
              <a:t>Null hypothesis (H</a:t>
            </a:r>
            <a:r>
              <a:rPr lang="en-GB" sz="2000" b="0" baseline="-25000">
                <a:solidFill>
                  <a:srgbClr val="FF0000"/>
                </a:solidFill>
                <a:latin typeface="Arial"/>
                <a:cs typeface="Arial"/>
              </a:rPr>
              <a:t>0</a:t>
            </a:r>
            <a:r>
              <a:rPr lang="en-GB" sz="2000" b="0">
                <a:solidFill>
                  <a:srgbClr val="FF0000"/>
                </a:solidFill>
                <a:latin typeface="Arial"/>
                <a:cs typeface="Arial"/>
              </a:rPr>
              <a:t>): There is </a:t>
            </a:r>
            <a:r>
              <a:rPr lang="en-GB" sz="2000">
                <a:solidFill>
                  <a:srgbClr val="FF0000"/>
                </a:solidFill>
                <a:latin typeface="Arial"/>
                <a:cs typeface="Arial"/>
              </a:rPr>
              <a:t>no</a:t>
            </a:r>
            <a:r>
              <a:rPr lang="en-GB" sz="2000" b="0">
                <a:solidFill>
                  <a:srgbClr val="FF0000"/>
                </a:solidFill>
                <a:latin typeface="Arial"/>
                <a:cs typeface="Arial"/>
              </a:rPr>
              <a:t> difference in the mean/median of the [dependent variable] between/among [subsets of the independent variable].              </a:t>
            </a:r>
            <a:r>
              <a:rPr lang="en-GB" sz="2000" b="0">
                <a:solidFill>
                  <a:schemeClr val="tx1"/>
                </a:solidFill>
                <a:latin typeface="Arial"/>
                <a:cs typeface="Arial"/>
              </a:rPr>
              <a:t>or</a:t>
            </a:r>
          </a:p>
          <a:p>
            <a:pPr>
              <a:lnSpc>
                <a:spcPct val="100000"/>
              </a:lnSpc>
            </a:pPr>
            <a:r>
              <a:rPr lang="en-GB" sz="2000" b="0">
                <a:solidFill>
                  <a:srgbClr val="FF0000"/>
                </a:solidFill>
                <a:latin typeface="Arial"/>
                <a:cs typeface="Arial"/>
              </a:rPr>
              <a:t>Null hypothesis (H</a:t>
            </a:r>
            <a:r>
              <a:rPr lang="en-GB" sz="2000" b="0" baseline="-25000">
                <a:solidFill>
                  <a:srgbClr val="FF0000"/>
                </a:solidFill>
                <a:latin typeface="Arial"/>
                <a:cs typeface="Arial"/>
              </a:rPr>
              <a:t>0</a:t>
            </a:r>
            <a:r>
              <a:rPr lang="en-GB" sz="2000" b="0">
                <a:solidFill>
                  <a:srgbClr val="FF0000"/>
                </a:solidFill>
                <a:latin typeface="Arial"/>
                <a:cs typeface="Arial"/>
              </a:rPr>
              <a:t>):  There is </a:t>
            </a:r>
            <a:r>
              <a:rPr lang="en-GB" sz="2000">
                <a:solidFill>
                  <a:srgbClr val="FF0000"/>
                </a:solidFill>
                <a:latin typeface="Arial"/>
                <a:cs typeface="Arial"/>
              </a:rPr>
              <a:t>no</a:t>
            </a:r>
            <a:r>
              <a:rPr lang="en-GB" sz="2000" b="0">
                <a:solidFill>
                  <a:srgbClr val="FF0000"/>
                </a:solidFill>
                <a:latin typeface="Arial"/>
                <a:cs typeface="Arial"/>
              </a:rPr>
              <a:t> difference in the proportions(s)of [subset(s) of dependent variable] between/among [subsets of independent variable].                     </a:t>
            </a:r>
            <a:r>
              <a:rPr lang="en-GB" sz="2000" b="0">
                <a:solidFill>
                  <a:schemeClr val="tx1"/>
                </a:solidFill>
                <a:latin typeface="Arial"/>
                <a:cs typeface="Arial"/>
              </a:rPr>
              <a:t>or</a:t>
            </a:r>
          </a:p>
          <a:p>
            <a:pPr>
              <a:lnSpc>
                <a:spcPct val="100000"/>
              </a:lnSpc>
            </a:pPr>
            <a:r>
              <a:rPr lang="en-GB" sz="2000" b="0">
                <a:solidFill>
                  <a:srgbClr val="FF0000"/>
                </a:solidFill>
                <a:latin typeface="Arial"/>
                <a:cs typeface="Arial"/>
              </a:rPr>
              <a:t>Null hypothesis (H</a:t>
            </a:r>
            <a:r>
              <a:rPr lang="en-GB" sz="2000" b="0" baseline="-25000">
                <a:solidFill>
                  <a:srgbClr val="FF0000"/>
                </a:solidFill>
                <a:latin typeface="Arial"/>
                <a:cs typeface="Arial"/>
              </a:rPr>
              <a:t>0</a:t>
            </a:r>
            <a:r>
              <a:rPr lang="en-GB" sz="2000" b="0">
                <a:solidFill>
                  <a:srgbClr val="FF0000"/>
                </a:solidFill>
                <a:latin typeface="Arial"/>
                <a:cs typeface="Arial"/>
              </a:rPr>
              <a:t>): There is </a:t>
            </a:r>
            <a:r>
              <a:rPr lang="en-GB" sz="2000">
                <a:solidFill>
                  <a:srgbClr val="FF0000"/>
                </a:solidFill>
                <a:latin typeface="Arial"/>
                <a:cs typeface="Arial"/>
              </a:rPr>
              <a:t>no</a:t>
            </a:r>
            <a:r>
              <a:rPr lang="en-GB" sz="2000" b="0">
                <a:solidFill>
                  <a:srgbClr val="FF0000"/>
                </a:solidFill>
                <a:latin typeface="Arial"/>
                <a:cs typeface="Arial"/>
              </a:rPr>
              <a:t> correlation between [dependent variable] and [independent variable].</a:t>
            </a:r>
          </a:p>
          <a:p>
            <a:pPr>
              <a:lnSpc>
                <a:spcPct val="100000"/>
              </a:lnSpc>
            </a:pPr>
            <a:r>
              <a:rPr lang="en-GB" sz="2000" b="0">
                <a:latin typeface="Arial"/>
                <a:cs typeface="Arial"/>
              </a:rPr>
              <a:t>2. Alternative hypothesis (H</a:t>
            </a:r>
            <a:r>
              <a:rPr lang="en-GB" sz="2000" b="0" baseline="-25000">
                <a:latin typeface="Arial"/>
                <a:cs typeface="Arial"/>
              </a:rPr>
              <a:t>1</a:t>
            </a:r>
            <a:r>
              <a:rPr lang="en-GB" sz="2000" b="0">
                <a:latin typeface="Arial"/>
                <a:cs typeface="Arial"/>
              </a:rPr>
              <a:t>):  There appears to be an effect on the population – so you copy what you wrote for the Null hypothesis but remove the ‘no’ and replace with ‘</a:t>
            </a:r>
            <a:r>
              <a:rPr lang="en-GB" sz="2000">
                <a:latin typeface="Arial"/>
                <a:cs typeface="Arial"/>
              </a:rPr>
              <a:t>a’  </a:t>
            </a:r>
            <a:r>
              <a:rPr lang="en-GB" sz="2000" b="0">
                <a:latin typeface="Arial"/>
                <a:cs typeface="Arial"/>
              </a:rPr>
              <a:t>For example:</a:t>
            </a:r>
          </a:p>
          <a:p>
            <a:pPr>
              <a:lnSpc>
                <a:spcPct val="100000"/>
              </a:lnSpc>
            </a:pPr>
            <a:r>
              <a:rPr lang="en-GB" sz="2000" b="0">
                <a:solidFill>
                  <a:srgbClr val="FF0000"/>
                </a:solidFill>
                <a:latin typeface="Arial"/>
                <a:cs typeface="Arial"/>
              </a:rPr>
              <a:t>Alt hypothesis (H</a:t>
            </a:r>
            <a:r>
              <a:rPr lang="en-GB" sz="2000" b="0" baseline="-25000">
                <a:solidFill>
                  <a:srgbClr val="FF0000"/>
                </a:solidFill>
                <a:latin typeface="Arial"/>
                <a:cs typeface="Arial"/>
              </a:rPr>
              <a:t>1</a:t>
            </a:r>
            <a:r>
              <a:rPr lang="en-GB" sz="2000" b="0">
                <a:solidFill>
                  <a:srgbClr val="FF0000"/>
                </a:solidFill>
                <a:latin typeface="Arial"/>
                <a:cs typeface="Arial"/>
              </a:rPr>
              <a:t>): There is </a:t>
            </a:r>
            <a:r>
              <a:rPr lang="en-GB" sz="2000">
                <a:solidFill>
                  <a:srgbClr val="FF0000"/>
                </a:solidFill>
                <a:latin typeface="Arial"/>
                <a:cs typeface="Arial"/>
              </a:rPr>
              <a:t>a</a:t>
            </a:r>
            <a:r>
              <a:rPr lang="en-GB" sz="2000" b="0">
                <a:solidFill>
                  <a:srgbClr val="FF0000"/>
                </a:solidFill>
                <a:latin typeface="Arial"/>
                <a:cs typeface="Arial"/>
              </a:rPr>
              <a:t> correlation between [dependent variable] and [independent variable].</a:t>
            </a:r>
          </a:p>
        </p:txBody>
      </p:sp>
      <p:sp>
        <p:nvSpPr>
          <p:cNvPr id="4" name="Slide Number Placeholder 3">
            <a:extLst>
              <a:ext uri="{FF2B5EF4-FFF2-40B4-BE49-F238E27FC236}">
                <a16:creationId xmlns:a16="http://schemas.microsoft.com/office/drawing/2014/main" id="{FF7EDF94-2B89-A21D-BBC0-E455C2D9893B}"/>
              </a:ext>
            </a:extLst>
          </p:cNvPr>
          <p:cNvSpPr>
            <a:spLocks noGrp="1"/>
          </p:cNvSpPr>
          <p:nvPr>
            <p:ph type="sldNum" sz="quarter" idx="12"/>
          </p:nvPr>
        </p:nvSpPr>
        <p:spPr>
          <a:xfrm>
            <a:off x="11269543" y="284375"/>
            <a:ext cx="558281" cy="221244"/>
          </a:xfrm>
        </p:spPr>
        <p:txBody>
          <a:bodyPr/>
          <a:lstStyle/>
          <a:p>
            <a:r>
              <a:rPr lang="en-US"/>
              <a:t>4</a:t>
            </a:r>
            <a:endParaRPr lang="en-GB"/>
          </a:p>
        </p:txBody>
      </p:sp>
      <p:sp>
        <p:nvSpPr>
          <p:cNvPr id="6" name="TextBox 5">
            <a:extLst>
              <a:ext uri="{FF2B5EF4-FFF2-40B4-BE49-F238E27FC236}">
                <a16:creationId xmlns:a16="http://schemas.microsoft.com/office/drawing/2014/main" id="{1841CE34-1B2E-88D5-0C3F-506E8C37BB7B}"/>
              </a:ext>
            </a:extLst>
          </p:cNvPr>
          <p:cNvSpPr txBox="1"/>
          <p:nvPr/>
        </p:nvSpPr>
        <p:spPr>
          <a:xfrm>
            <a:off x="3356146" y="5298491"/>
            <a:ext cx="7811780" cy="1477328"/>
          </a:xfrm>
          <a:prstGeom prst="rect">
            <a:avLst/>
          </a:prstGeom>
          <a:noFill/>
        </p:spPr>
        <p:txBody>
          <a:bodyPr wrap="square" lIns="91440" tIns="45720" rIns="91440" bIns="45720" anchor="t">
            <a:spAutoFit/>
          </a:bodyPr>
          <a:lstStyle/>
          <a:p>
            <a:r>
              <a:rPr lang="en-GB"/>
              <a:t>L</a:t>
            </a:r>
            <a:r>
              <a:rPr lang="en-GB" sz="1800" b="0"/>
              <a:t>eave the hypotheses as </a:t>
            </a:r>
            <a:r>
              <a:rPr lang="en-GB"/>
              <a:t>two </a:t>
            </a:r>
            <a:r>
              <a:rPr lang="en-GB" sz="1800" b="0"/>
              <a:t>statements for now – after your </a:t>
            </a:r>
            <a:r>
              <a:rPr lang="en-GB"/>
              <a:t>statistical </a:t>
            </a:r>
            <a:r>
              <a:rPr lang="en-GB" sz="1800" b="0"/>
              <a:t>analysis </a:t>
            </a:r>
            <a:r>
              <a:rPr lang="en-GB"/>
              <a:t>test, </a:t>
            </a:r>
            <a:r>
              <a:rPr lang="en-GB" sz="1800" b="0"/>
              <a:t>you </a:t>
            </a:r>
            <a:r>
              <a:rPr lang="en-GB"/>
              <a:t>will </a:t>
            </a:r>
            <a:r>
              <a:rPr lang="en-GB" sz="1800" b="0"/>
              <a:t>choose one or the other.</a:t>
            </a:r>
            <a:r>
              <a:rPr lang="en-GB"/>
              <a:t> (</a:t>
            </a:r>
            <a:r>
              <a:rPr lang="en-GB" i="1"/>
              <a:t>You will report: "We fail to reject the null hypothesis" with no significant result, or if you do have significance [p-value = &lt; 0.05] you can state "We reject the null hypothesis".   More guidance on hypothesis testing is given in the lectures</a:t>
            </a:r>
            <a:r>
              <a:rPr lang="en-GB"/>
              <a:t>.)</a:t>
            </a:r>
            <a:endParaRPr lang="en-GB">
              <a:cs typeface="Arial"/>
            </a:endParaRPr>
          </a:p>
        </p:txBody>
      </p:sp>
    </p:spTree>
    <p:extLst>
      <p:ext uri="{BB962C8B-B14F-4D97-AF65-F5344CB8AC3E}">
        <p14:creationId xmlns:p14="http://schemas.microsoft.com/office/powerpoint/2010/main" val="2952338475"/>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Props1.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3.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6</Slides>
  <Notes>4</Notes>
  <HiddenSlides>0</HiddenSlide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Herts Theme</vt:lpstr>
      <vt:lpstr>PowerPoint Presentation</vt:lpstr>
      <vt:lpstr>Research Question –  Tutorial Presentation for Feedback Date:  </vt:lpstr>
      <vt:lpstr>Include summary information of your dataset, to include  The columns/variable names you include in your research question  (two columns). At least 5 rows of the data Tell us how many rows your dataset has.  </vt:lpstr>
      <vt:lpstr>This dataset is interesting to us because (one sentence):  From the column headings in your dataset choose ONE independent * and ONE dependent variable .  Our  Independent variable is: (the variable that remains constant /could cause an effect  on dep var)                    This  Independent variable datatype is (select one): Nominal/categorial  OR Ordinal OR Interval/measurement data. Our Dependent variable is: (your outcome variable that answers your RQ)                    This Dependent variable datatype is  (select one): Nominal/categorial  OR Ordinal OR Interval/measurement data</vt:lpstr>
      <vt:lpstr>Template 1: Interval/Ordinal vs Interval/Ordinal: “Is there a correlation between [dependent interval or ordinal variable] and [independent interval or ordinal variable?]”.   Template2 :Interval/Ordinal vs Nominal. data “Is there a difference in the mean of [dependent interval variable  or  dependent ordinal variable] between/among [independent nominal variable] and [independent nominal variable?]”.  Template 3:  Nominal vs Nominal  data (frequencies): “Is there a difference in proportions of [dependent nominal variable] between [independent nominal variable] and [independent nominal variable]?”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revision>116</cp:revision>
  <dcterms:created xsi:type="dcterms:W3CDTF">2019-10-01T08:37:56Z</dcterms:created>
  <dcterms:modified xsi:type="dcterms:W3CDTF">2025-11-07T14:33:34Z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